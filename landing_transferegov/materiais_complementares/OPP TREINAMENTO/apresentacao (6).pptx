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296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Ordem de Pagamento de Parcerias (OPP)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494459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spc="-1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Modernização da Execução de Recursos Federais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22347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Formação ampliada para gestores, servidores e parceiros do executivo, estados, municípios e Organizações da Sociedade Civil (OSCs).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8806"/>
            <a:ext cx="940967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65460"/>
            <a:ext cx="13237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15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Este Material Foi Criado?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15728"/>
            <a:ext cx="5770220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material tem como propósito central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capacitar gestores, servidores e parceiros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âmbito do executivo federal, estados, municípios e OSCs — sobre a nova sistemática de pagamento de parcerias implementada pela Ordem de Pagamento de Parcerias (OPP).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foi desenvolvido de forma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genérica e adaptável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sem vínculo a órgão específico, permitindo sua utilização em diferentes contextos institucionais e capacitações multiplicadoras.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775200"/>
            <a:ext cx="5770220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Compreender o funcionamento da OPP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Conhecer as regras, perfis e fluxos operacionais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equipes para a transição do modelo antigo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Subsidiar a replicação em redes de parcerias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99202" y="2058293"/>
            <a:ext cx="2224131" cy="1782266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94558" y="2253655"/>
            <a:ext cx="18334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Público-Alvo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094558" y="2737941"/>
            <a:ext cx="183341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Gestores, servidores, parceiros e OSCs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312340" y="2058293"/>
            <a:ext cx="2224131" cy="1782266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7697" y="2253655"/>
            <a:ext cx="18334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507697" y="2737941"/>
            <a:ext cx="183341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descaracterizado e adaptável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99202" y="4029571"/>
            <a:ext cx="4637269" cy="1177429"/>
          </a:xfrm>
          <a:prstGeom prst="roundRect">
            <a:avLst>
              <a:gd name="adj" fmla="val 674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4558" y="4224933"/>
            <a:ext cx="42465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Abrangência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094558" y="4709220"/>
            <a:ext cx="424655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Federal, estadual, municipal e sociedade civil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93527"/>
            <a:ext cx="2554521" cy="246856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8905" y="642243"/>
            <a:ext cx="2969245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ESTRATÉGICA E INSTITUCIONAL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96144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Cooperação para a Transformação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661475" y="2120702"/>
            <a:ext cx="629686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nasce da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cooperação estruturada entre o órgão gestor de recursos e o órgão central de gestão e inovação</a:t>
            </a:r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combinando expertise setorial com capacidade tecnológica para redesenhar a execução financeira de parcerias públicas.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02459"/>
            <a:ext cx="406092" cy="406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1989" y="3002459"/>
            <a:ext cx="57163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Rastreabilidade Total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241989" y="3340001"/>
            <a:ext cx="57163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centavo executado é registrado, identificado e auditável em tempo real, garantindo transparência integral ao longo de toda a cadeia de repasse.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06092" cy="4061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1989" y="4102298"/>
            <a:ext cx="57163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Controle Robusto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241989" y="4439841"/>
            <a:ext cx="57163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 de segurança multicamada — dupla autorização, senhas segregadas e janela de execução — asseguram proteção ao erário público.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202138"/>
            <a:ext cx="406092" cy="4061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1989" y="5202138"/>
            <a:ext cx="57163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Agilidade Operacional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241989" y="5539680"/>
            <a:ext cx="571634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direta via API com a rede bancária elimina gargalos burocráticos, acelerando a execução e o acesso aos recursos por quem entrega a política pública.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43437" cy="143470"/>
          </a:xfrm>
          <a:prstGeom prst="roundRect">
            <a:avLst>
              <a:gd name="adj" fmla="val 2213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33971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ESTRATÉGICA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Evolução em Ondas: Do Modelo Antigo à OPP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086874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modernização não ocorreu de forma abrupta — ela seguiu uma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trajetória de evolução em ondas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passando pela integração sistêmica, regulamentação de convênios, transferências especiais (TEDs) e repasses fundo a fundo, até chegar à arquitetura da OPP.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28142"/>
            <a:ext cx="8737381" cy="4876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63052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Comprimido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1475" y="6500118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antes levaria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anos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foi executado em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180 dias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demonstrando capacidade de entrega acelerada sem abrir mão de segurança e governança.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217487" y="63052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 do Modelo "Conveniente"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487" y="6500118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antigo privilegiava o repassador. A OPP reequilibra o sistema: o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beneficiário executa com autonomia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 o repassador fiscaliza com mais eficiência e menos intervenção burocrática.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040"/>
            <a:ext cx="2433775" cy="26918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735" y="594122"/>
            <a:ext cx="283083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spc="-28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 ESTRATÉGICO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659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10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Sistema é Meio, Não Fim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679476"/>
            <a:ext cx="108687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representa uma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mudança de mentalidade</a:t>
            </a:r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 foco não está na ferramenta, mas na política pública que ela viabiliza. O dinheiro público é um instrumento de transformação social — e o sistema deve ser invisível o suficiente para não obstruir esse propósito.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15580"/>
            <a:ext cx="5351329" cy="18675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923" y="2611834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Foco na Política Pública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3923" y="2988370"/>
            <a:ext cx="4882631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funcionalidade da OPP foi desenhada para que gestores e parceiros concentrem energia na entrega de resultados para a população, e não na burocracia de processos financeiros.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892" y="2415580"/>
            <a:ext cx="5351329" cy="18675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1339" y="2611834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Dinheiro como Ferramenta de Transformação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451339" y="2988370"/>
            <a:ext cx="4882631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públicos bem rastreados e executados com agilidade chegam mais rápido e com mais impacto às comunidades, OSCs e entes federativos que dependem das parcerias.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49266"/>
            <a:ext cx="5351329" cy="18675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33923" y="4645521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Mudança de Cultura Operacional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933923" y="5022056"/>
            <a:ext cx="4882631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transição exige mais do que adoção tecnológica — demanda uma nova postura dos servidores: menos controle cartorial, mais foco em resultados e relação de confiança com o parceiro.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892" y="4449266"/>
            <a:ext cx="5351329" cy="18675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1339" y="4645521"/>
            <a:ext cx="488263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Plataforma Aberta a Sugestões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451339" y="5022056"/>
            <a:ext cx="4882631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construção da OPP é colaborativa e iterativa. Canais formais de escuta estão disponíveis para que gestores e parceiros contribuam com melhorias contínuas ao sistema.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3563"/>
            <a:ext cx="1686974" cy="264616"/>
          </a:xfrm>
          <a:prstGeom prst="roundRect">
            <a:avLst>
              <a:gd name="adj" fmla="val 2212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5950" y="615752"/>
            <a:ext cx="2087609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DÚVIDAS E SOLUÇÕES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237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Desafios Reais e Respostas Concretas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677789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implementação da OPP em larga escala trouxe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dúvidas legítimas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gestores e parceiros. Cada preocupação foi endereçada com soluções práticas e prazos definidos.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554684"/>
            <a:ext cx="499593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Principais Dúvidas Levantadas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6759" y="3016200"/>
            <a:ext cx="261336" cy="2613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7702" y="3007519"/>
            <a:ext cx="442970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Capacitação na ponta: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preparar os parceiros locais para operar o novo sistema sem suporte técnico contínuo?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759" y="4140845"/>
            <a:ext cx="261336" cy="2613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7702" y="4132163"/>
            <a:ext cx="4429709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Passivo de 63 mil contas: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migrar o estoque de contas vinculadas ao modelo anterior sem interromper execuções em curso?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759" y="5265489"/>
            <a:ext cx="261336" cy="2613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27702" y="5256808"/>
            <a:ext cx="442970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Regramento do Pix: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Quais são os limites, horários e restrições aplicáveis ao Pix dentro da OPP?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963394" y="2394049"/>
            <a:ext cx="5698486" cy="3900289"/>
          </a:xfrm>
          <a:prstGeom prst="roundRect">
            <a:avLst>
              <a:gd name="adj" fmla="val 3217"/>
            </a:avLst>
          </a:prstGeom>
          <a:solidFill>
            <a:srgbClr val="1A4480"/>
          </a:solidFill>
          <a:ln/>
        </p:spPr>
      </p:sp>
      <p:sp>
        <p:nvSpPr>
          <p:cNvPr id="14" name="Text 9"/>
          <p:cNvSpPr/>
          <p:nvPr/>
        </p:nvSpPr>
        <p:spPr>
          <a:xfrm>
            <a:off x="6137618" y="2554684"/>
            <a:ext cx="535003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Soluções Adotadas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137618" y="3103364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6" name="Text 11"/>
          <p:cNvSpPr/>
          <p:nvPr/>
        </p:nvSpPr>
        <p:spPr>
          <a:xfrm>
            <a:off x="6385361" y="3007519"/>
            <a:ext cx="51022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Prazo dezembro/2026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migração total do passivo com etapas planejadas e monitoradas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137618" y="3960217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3"/>
          <p:cNvSpPr/>
          <p:nvPr/>
        </p:nvSpPr>
        <p:spPr>
          <a:xfrm>
            <a:off x="6385361" y="3864372"/>
            <a:ext cx="51022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Autorização via aplicativo móvel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simplificar o acesso e a operação pelos parceiros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37618" y="4817070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0" name="Text 15"/>
          <p:cNvSpPr/>
          <p:nvPr/>
        </p:nvSpPr>
        <p:spPr>
          <a:xfrm>
            <a:off x="6385361" y="4721225"/>
            <a:ext cx="51022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Estratégia de multiplicadores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disseminar capacitação capilarmente nas redes de parceiros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37618" y="5673923"/>
            <a:ext cx="87112" cy="8711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17"/>
          <p:cNvSpPr/>
          <p:nvPr/>
        </p:nvSpPr>
        <p:spPr>
          <a:xfrm>
            <a:off x="6385361" y="5578078"/>
            <a:ext cx="51022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spc="-27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Articulação pela rede de parcerias</a:t>
            </a:r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garantir apoio institucional a estados, municípios e OSCs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77255"/>
            <a:ext cx="2057745" cy="233263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3548" y="623292"/>
            <a:ext cx="2483185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TÉCNICA E OPERACIONAL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60425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Arquitetura por Trás da OPP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61475" y="1527473"/>
            <a:ext cx="6296860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trajetória técnica construída desde 2010, a equipe responsável pela OPP desenvolveu uma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tecnológica de ponta</a:t>
            </a:r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integra o sistema de parcerias diretamente à rede bancária via API, eliminando intermediários e gargalos do modelo anterior.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2635052"/>
            <a:ext cx="3070446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3-5s</a:t>
            </a:r>
            <a:endParaRPr lang="en-US" sz="3950" dirty="0"/>
          </a:p>
        </p:txBody>
      </p:sp>
      <p:sp>
        <p:nvSpPr>
          <p:cNvPr id="8" name="Text 5"/>
          <p:cNvSpPr/>
          <p:nvPr/>
        </p:nvSpPr>
        <p:spPr>
          <a:xfrm>
            <a:off x="661475" y="3312120"/>
            <a:ext cx="307044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Abertura de Conta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3626842"/>
            <a:ext cx="307044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 para abertura instantânea de conta na Caixa Econômica Federal via OPP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87889" y="2635052"/>
            <a:ext cx="3070446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3950" dirty="0"/>
          </a:p>
        </p:txBody>
      </p:sp>
      <p:sp>
        <p:nvSpPr>
          <p:cNvPr id="11" name="Text 8"/>
          <p:cNvSpPr/>
          <p:nvPr/>
        </p:nvSpPr>
        <p:spPr>
          <a:xfrm>
            <a:off x="3887889" y="3312120"/>
            <a:ext cx="307044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Homologados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887889" y="3626842"/>
            <a:ext cx="3070446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Caixa Econômica Federal, Banco do Brasil e Banco do Nordeste integrados via API em tempo real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74632" y="4621014"/>
            <a:ext cx="3070446" cy="5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50" b="1" spc="-1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2010</a:t>
            </a:r>
            <a:endParaRPr lang="en-US" sz="3950" dirty="0"/>
          </a:p>
        </p:txBody>
      </p:sp>
      <p:sp>
        <p:nvSpPr>
          <p:cNvPr id="14" name="Text 11"/>
          <p:cNvSpPr/>
          <p:nvPr/>
        </p:nvSpPr>
        <p:spPr>
          <a:xfrm>
            <a:off x="2274632" y="5298083"/>
            <a:ext cx="307044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 da Trajetória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274632" y="5612805"/>
            <a:ext cx="3070446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técnica consolidada ao longo de mais de uma década de desenvolvimento e evolução sistêmica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7805"/>
            <a:ext cx="1152893" cy="246856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8905" y="746522"/>
            <a:ext cx="1567617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TÉCNICA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00423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Módulos, Integração e Funcionalidades Bancárias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85687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Modular do Sistema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250182"/>
            <a:ext cx="5236238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é estruturada em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módulos integrados</a:t>
            </a:r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cobrem desde o cadastro do parceiro e a gestão do instrumento até a execução financeira e a prestação de contas, com rastreabilidade em cada etapa.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3373537"/>
            <a:ext cx="5236238" cy="1057176"/>
          </a:xfrm>
          <a:prstGeom prst="roundRect">
            <a:avLst>
              <a:gd name="adj" fmla="val 6453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892" y="3589238"/>
            <a:ext cx="202996" cy="1624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9305" y="3539728"/>
            <a:ext cx="454599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integração via API opera em tempo real, fazendo bypass do sistema contábil tradicional — eliminando o processamento em lote (batch) e acelerando drasticamente a execução.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0332" y="1856879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Bancos Homologados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300332" y="2267645"/>
            <a:ext cx="2548370" cy="1467842"/>
          </a:xfrm>
          <a:prstGeom prst="roundRect">
            <a:avLst>
              <a:gd name="adj" fmla="val 46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9099" y="2436416"/>
            <a:ext cx="2210836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Caixa Econômica Federal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69099" y="3083520"/>
            <a:ext cx="22108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 de conta instantânea em 3-5 segundos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88200" y="2267645"/>
            <a:ext cx="2548370" cy="1467842"/>
          </a:xfrm>
          <a:prstGeom prst="roundRect">
            <a:avLst>
              <a:gd name="adj" fmla="val 464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6967" y="2436416"/>
            <a:ext cx="221083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do Brasil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156967" y="2829719"/>
            <a:ext cx="221083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completa via API em tempo real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0332" y="3874988"/>
            <a:ext cx="5236238" cy="972443"/>
          </a:xfrm>
          <a:prstGeom prst="roundRect">
            <a:avLst>
              <a:gd name="adj" fmla="val 7016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69099" y="4043759"/>
            <a:ext cx="489870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Banco do Nordeste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69099" y="4437063"/>
            <a:ext cx="489870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 parceiros e OSCs na região nordeste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1475" y="5213747"/>
            <a:ext cx="1086874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Minuta de Pagamento Abrangente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61475" y="5676900"/>
            <a:ext cx="1086874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suporta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boletos, tributos, chaves Pix, Pix Saque e Pix Troco</a:t>
            </a:r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cobrindo virtualmente todas as modalidades de pagamento necessárias à execução de parcerias no contexto atual.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602"/>
            <a:ext cx="1666933" cy="206276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2931" y="599281"/>
            <a:ext cx="2113604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1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E GOVERNANÇA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03870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Proteção Multicamada ao Erário Público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374775"/>
            <a:ext cx="1086874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foi projetada com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como prioridade estrutural</a:t>
            </a:r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não como complemento. Cada decisão arquitetural considera a proteção dos recursos públicos como critério primário.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955701"/>
            <a:ext cx="58286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Janela de Execução Controlada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265660"/>
            <a:ext cx="582865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 autorizadas de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segunda a sexta, das 07h às 19h30</a:t>
            </a:r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 autorização final até as 20h. Dados do Banco Central indicam que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mais de 90% das fraudes</a:t>
            </a:r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ocorrem em fins de semana e feriados — período em que a OPP permanece fechada para transações.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923480"/>
            <a:ext cx="58286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Perfis de Acesso com Dupla Autorização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3245644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3457377"/>
            <a:ext cx="582865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563342"/>
            <a:ext cx="58286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873302"/>
            <a:ext cx="582865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a minuta de pagamento no sistema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4259461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4471194"/>
            <a:ext cx="582865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577159"/>
            <a:ext cx="58286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887119"/>
            <a:ext cx="582865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e aprova a minuta registrada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475" y="5273278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32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475" y="5485011"/>
            <a:ext cx="5828658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590977"/>
            <a:ext cx="582865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Ordenador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900936"/>
            <a:ext cx="582865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Autoriza a liquidação final do pagamento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7865" y="1955701"/>
            <a:ext cx="4708606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 Cadastral Blindada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7865" y="2277864"/>
            <a:ext cx="2305488" cy="1366639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2742" y="2432745"/>
            <a:ext cx="199573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Senhas Segregadas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82742" y="2742704"/>
            <a:ext cx="1995735" cy="74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Gov.br nível Ouro + token do banco — credenciais independentes impedem acesso único comprometido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30982" y="2277864"/>
            <a:ext cx="2305488" cy="1366639"/>
          </a:xfrm>
          <a:prstGeom prst="roundRect">
            <a:avLst>
              <a:gd name="adj" fmla="val 417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5859" y="2432745"/>
            <a:ext cx="199573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RLA via Banco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85859" y="2742704"/>
            <a:ext cx="1995735" cy="746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de liquidação transmitido exclusivamente pelo banco via API — sem intervenção manual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27865" y="3742134"/>
            <a:ext cx="4708606" cy="993180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2742" y="3897015"/>
            <a:ext cx="4398852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Pix sem Teto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82742" y="4206974"/>
            <a:ext cx="4398852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limite de valor para Pix dentro da OPP — adequado à natureza dos repasses públicos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1819"/>
            <a:ext cx="2278898" cy="255786"/>
          </a:xfrm>
          <a:prstGeom prst="roundRect">
            <a:avLst>
              <a:gd name="adj" fmla="val 2211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632321"/>
            <a:ext cx="2686479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 E SOLUÇÕES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753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9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Ferramentas que Tornam a Execução Mais Eficiente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648420"/>
            <a:ext cx="1086874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Além da arquitetura de segurança, a OPP oferece um conjunto robusto de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funcionalidades operacionais</a:t>
            </a:r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respondem às necessidades reais dos parceiros no dia a dia da execução financeira.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26283"/>
            <a:ext cx="420776" cy="42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9571" y="2326283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Exclusão Lógica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69571" y="2679204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não podem ser editados após lançamento — erros são corrigidos via exclusão lógica, garantindo trilha de auditoria integral e sem adulteração de histórico.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9508" y="2326283"/>
            <a:ext cx="420776" cy="42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97604" y="2326283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Agendamento de Pagamentos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797604" y="2679204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 prevista para agosto, permitindo que parceiros programem pagamentos futuros com antecedência e maior controle do fluxo financeiro.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42829"/>
            <a:ext cx="420776" cy="420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9571" y="3742829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Extrato Detalhado D-1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269571" y="4095750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Extrato com sublançamentos disponível com um dia de antecedência, permitindo conciliação antecipada e identificação de inconsistências antes do fechamento.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9508" y="3742829"/>
            <a:ext cx="420776" cy="4207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97604" y="3742829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Bloqueio e Desbloqueio Direto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797604" y="4095750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partir de setembro, gestores poderão bloquear e desbloquear recursos diretamente no sistema, sem necessidade de acionamento bancário externo.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159375"/>
            <a:ext cx="420776" cy="42078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69571" y="5159375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Categorização de Despesas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269571" y="5512296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Despesas vinculadas são categorizadas automaticamente, facilitando a prestação de contas e a verificação da conformidade com o plano de trabalho aprovado.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9508" y="5159375"/>
            <a:ext cx="420776" cy="42078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97604" y="5159375"/>
            <a:ext cx="4732616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Bloqueio Padrão de Pix Saque e Troco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6797604" y="5512296"/>
            <a:ext cx="4732616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 Saque e Pix Troco são bloqueados por padrão, sendo habilitados apenas mediante justificativa e autorização expressa, reduzindo o risco de uso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58105"/>
            <a:ext cx="1065781" cy="224334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21961" y="602357"/>
            <a:ext cx="1498166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3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RESUMO GERAL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828576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a OPP Representa na Prática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5233360" y="1463080"/>
            <a:ext cx="6296860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Ordem de Pagamento de Parcerias não é apenas uma atualização tecnológica — é uma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disrupção estrutural</a:t>
            </a:r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forma como o Brasil executa recursos públicos em regime de parceria.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33360" y="2223889"/>
            <a:ext cx="6296860" cy="4075906"/>
          </a:xfrm>
          <a:prstGeom prst="roundRect">
            <a:avLst>
              <a:gd name="adj" fmla="val 15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39710" y="2230239"/>
            <a:ext cx="6284160" cy="1015802"/>
          </a:xfrm>
          <a:custGeom>
            <a:avLst/>
            <a:gdLst/>
            <a:ahLst/>
            <a:cxnLst/>
            <a:rect l="l" t="t" r="r" b="b"/>
            <a:pathLst>
              <a:path w="6284160" h="1015802">
                <a:moveTo>
                  <a:pt x="51685" y="0"/>
                </a:moveTo>
                <a:lnTo>
                  <a:pt x="6232475" y="0"/>
                </a:lnTo>
                <a:arcTo hR="51686" wR="51685" stAng="16200000" swAng="5400000"/>
                <a:lnTo>
                  <a:pt x="6284160" y="1015802"/>
                </a:lnTo>
                <a:lnTo>
                  <a:pt x="0" y="1015802"/>
                </a:lnTo>
                <a:lnTo>
                  <a:pt x="0" y="51686"/>
                </a:lnTo>
                <a:arcTo hR="51686" wR="51685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Text 6"/>
          <p:cNvSpPr/>
          <p:nvPr/>
        </p:nvSpPr>
        <p:spPr>
          <a:xfrm>
            <a:off x="5387344" y="2377877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Disrupção Tecnológica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387344" y="2677716"/>
            <a:ext cx="598889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Fim do processamento em lote (batch). Integração em tempo real via API com a rede bancária homologada.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9710" y="3246041"/>
            <a:ext cx="6284160" cy="1015802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2" name="Shape 9"/>
          <p:cNvSpPr/>
          <p:nvPr/>
        </p:nvSpPr>
        <p:spPr>
          <a:xfrm>
            <a:off x="5239710" y="324604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Text 10"/>
          <p:cNvSpPr/>
          <p:nvPr/>
        </p:nvSpPr>
        <p:spPr>
          <a:xfrm>
            <a:off x="5387344" y="3393678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Desburocratização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387344" y="3693517"/>
            <a:ext cx="598889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finalístico na política pública. Menos controle cartorial, mais autonomia e responsabilidade do parceiro executor.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239710" y="4261842"/>
            <a:ext cx="6284160" cy="1015802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6" name="Shape 13"/>
          <p:cNvSpPr/>
          <p:nvPr/>
        </p:nvSpPr>
        <p:spPr>
          <a:xfrm>
            <a:off x="5239710" y="426184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Text 14"/>
          <p:cNvSpPr/>
          <p:nvPr/>
        </p:nvSpPr>
        <p:spPr>
          <a:xfrm>
            <a:off x="5387344" y="4409480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Segurança Blindada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387344" y="4709319"/>
            <a:ext cx="598889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cadastral e operacional em múltiplas camadas: janela de execução, dupla autorização e senhas segregadas.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239710" y="5277644"/>
            <a:ext cx="6284160" cy="1015802"/>
          </a:xfrm>
          <a:custGeom>
            <a:avLst/>
            <a:gdLst/>
            <a:ahLst/>
            <a:cxnLst/>
            <a:rect l="l" t="t" r="r" b="b"/>
            <a:pathLst>
              <a:path w="6284160" h="1015802">
                <a:moveTo>
                  <a:pt x="0" y="0"/>
                </a:moveTo>
                <a:lnTo>
                  <a:pt x="6284160" y="0"/>
                </a:lnTo>
                <a:lnTo>
                  <a:pt x="6284160" y="964116"/>
                </a:lnTo>
                <a:arcTo hR="51686" wR="51685" stAng="0" swAng="5400000"/>
                <a:lnTo>
                  <a:pt x="51685" y="1015802"/>
                </a:lnTo>
                <a:arcTo hR="51686" wR="51685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239710" y="527764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Text 18"/>
          <p:cNvSpPr/>
          <p:nvPr/>
        </p:nvSpPr>
        <p:spPr>
          <a:xfrm>
            <a:off x="5387344" y="5425281"/>
            <a:ext cx="598889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Construção Colaborativa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387344" y="5725120"/>
            <a:ext cx="598889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em ondas até dezembro de 2026, com escuta ativa dos parceiros e aprimoramento contínuo do sistema.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967"/>
            <a:ext cx="1234052" cy="246856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758905" y="611684"/>
            <a:ext cx="1648776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65584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spc="-9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Passos e Canais de Articulação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22041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 de Implementação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70069" y="2132806"/>
            <a:ext cx="19050" cy="3918347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7" name="Shape 5"/>
          <p:cNvSpPr/>
          <p:nvPr/>
        </p:nvSpPr>
        <p:spPr>
          <a:xfrm>
            <a:off x="2973809" y="2305943"/>
            <a:ext cx="32483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8" name="Shape 6"/>
          <p:cNvSpPr/>
          <p:nvPr/>
        </p:nvSpPr>
        <p:spPr>
          <a:xfrm>
            <a:off x="3218725" y="2254597"/>
            <a:ext cx="121738" cy="12174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2188567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Imediato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1475" y="2581870"/>
            <a:ext cx="196845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da capacitação de multiplicadores nas redes de parcerias locais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0544" y="3234730"/>
            <a:ext cx="32483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18725" y="3183384"/>
            <a:ext cx="121738" cy="12174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3929262" y="3117354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Agosto/2025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29262" y="3510657"/>
            <a:ext cx="196845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Ativação do agendamento de pagamentos no sistema OPP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73809" y="4051895"/>
            <a:ext cx="32483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18725" y="4000550"/>
            <a:ext cx="121738" cy="12174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3934520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Setembro/2025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1475" y="4327823"/>
            <a:ext cx="196845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Habilitação do bloqueio e desbloqueio direto de recursos no sistema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60544" y="4869061"/>
            <a:ext cx="32483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0" name="Shape 18"/>
          <p:cNvSpPr/>
          <p:nvPr/>
        </p:nvSpPr>
        <p:spPr>
          <a:xfrm>
            <a:off x="3218725" y="4817715"/>
            <a:ext cx="121738" cy="121741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3929262" y="4751685"/>
            <a:ext cx="19684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Dezembro/2026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929262" y="5144988"/>
            <a:ext cx="196845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da migração total do passivo de 63 mil contas para a OPP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0332" y="1722041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Participar e Contribuir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300332" y="2132806"/>
            <a:ext cx="2548370" cy="17348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1799" y="2314277"/>
            <a:ext cx="2185437" cy="507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Rede de Multiplicadores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81799" y="2961382"/>
            <a:ext cx="2185437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Engaje-se como ponto focal de capacitação na sua instituição ou ente federativo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88200" y="2132806"/>
            <a:ext cx="2548370" cy="173484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9667" y="2314277"/>
            <a:ext cx="2185437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Canal de Sugestões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169667" y="2707580"/>
            <a:ext cx="2185437" cy="966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está aberta a contribuições — registre melhorias e feedbacks operacionais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0332" y="4007148"/>
            <a:ext cx="5236238" cy="1239441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81799" y="4188619"/>
            <a:ext cx="487330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Rede de Parcerias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481799" y="4581922"/>
            <a:ext cx="487330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Articulação institucional disponível para estados, municípios e OSCs em processo de migração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43908" y="5529163"/>
            <a:ext cx="499266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OPP é construída com todos e para todos. A sua participação fortalece o sistema e amplia o impacto da política pública.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0332" y="5403552"/>
            <a:ext cx="19050" cy="734417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2026-08-20T18:08:50Z</dcterms:created>
  <dcterms:modified xsi:type="dcterms:W3CDTF">2026-08-20T18:08:50Z</dcterms:modified>
</cp:coreProperties>
</file>